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Mutual Fund Analytics Platform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1F5F9"/>
                </a:solidFill>
              </a:defRPr>
            </a:pPr>
            <a:r>
              <a:t>End-to-End ETL Pipeline, Performance Analytics &amp;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2E8F0"/>
                </a:solidFill>
              </a:defRPr>
            </a:pPr>
            <a:r>
              <a:t>Intern Name: Vikas Prajapat   |   Organization: Bluestock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Mutual Fund Complexity: Investors are overwhelmed by the volume and variety of mutual fund schemes, making manual comparison ineffective.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Invisible Risk Ratios: Traditional platforms report raw historical returns but fail to highlights risk metrics (Sharpe, Sortino, VaR, Max Drawdown).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Fragmented Data: NAV histories, investor demographics, and sector holdings reside in separate silos, preventing consolidated views.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High Cost Drag: Cost differences between Regular and Direct plans are often ignored by retail clients, eroding long-term compounding wealth.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011680"/>
            <a:ext cx="374903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1E3A8A"/>
                </a:solidFill>
              </a:defRPr>
            </a:pPr>
            <a:r>
              <a:t>The Challenge: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How can we build an integrated analytics pipeline to ingest raw AMC sheets, resolve missing holiday data, compute advanced risk metrics, and serve a dynamic dashboard to investors?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Automated Data Ingestion: Setup a Python scanner to ingest, clean, and validate 10 raw datasets representing AMC holdings, NAVs, and transactions.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Database Warehouse: Design a Star Schema SQLite DB to house clean Dimension (fund, date) and Fact (NAV, transactions, AUM, performance) tables.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Performance Analytics Scorecard: Programmatically compute CAGR (1y, 3y, 5y), Sharpe, Sortino, Alpha, Beta, and Max Drawdown.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Fund Recommender: Build an algorithmic engine that filters schemes by risk category and recommends the top 3 options based on Sharpe ratios.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• BI Interactive Dashboard: Publish a 4-page Power BI dashboard detailing Industry Trends, Fund Performance, Investor Analytics, and Market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Sources &amp; 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Core Dimension Tables: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dim_fund: Master scheme information, launch dates, categories.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dim_date: Generated date dimension with day, month, quarter, and weekend flags.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Cleaned Data Volume: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- 37,000+ historical NAV records in fact_nav.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- 15,000+ retail transactions in fact_transactions.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- 40 major schemes tracked with performance ratios.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Core Fact Tables: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fact_nav: Daily NAV records mapped to calendar dates.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fact_transactions: Purchases, redemptions, age, income, state.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fact_performance: Annualized returns, risk ratios, ratings.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fact_aum: AMC level AUM and folio counts over quarters.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Schema Relationship Constraints: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Enforced SQLite primary keys &amp; foreign key linkages.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Architecture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ETL Phase: Read raw CSVs, request live NAV updates from AMFI API.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Cleaning: Duplicate purging, outlier limits, and forward-filling holidays.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Storage: Load facts/dims to SQLite database.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Analytics: Run computations for Sharpe, Sortino, Alpha, Beta, VaR, CVaR, Rolling Sharpe, and HHI concentrations.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Dashboard: Direct SQLite connector displays interactive page visuals.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Reporting: Programmatic PDF and PPTX deck builders package deliverables.</a:t>
            </a:r>
          </a:p>
        </p:txBody>
      </p:sp>
      <p:pic>
        <p:nvPicPr>
          <p:cNvPr id="6" name="Picture 5" descr="projec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EDA Highlights — Market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029200" cy="2926080"/>
          </a:xfrm>
          <a:prstGeom prst="rect">
            <a:avLst/>
          </a:prstGeom>
        </p:spPr>
      </p:pic>
      <p:pic>
        <p:nvPicPr>
          <p:cNvPr id="6" name="Picture 5" descr="aum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0292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57200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NAV Growth: Large-cap funds demonstrate robust historical trajectories, with SBI and Nippon Bluechips exhibiting consistent returns.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AMC Dominance: AUM analysis indicates that SBI, ICICI, and HDFC represent over 50% of the industry's total AUM, highlighting high retail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EDA Highlights — Demographics &amp; Geography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029200" cy="2926080"/>
          </a:xfrm>
          <a:prstGeom prst="rect">
            <a:avLst/>
          </a:prstGeom>
        </p:spPr>
      </p:pic>
      <p:pic>
        <p:nvPicPr>
          <p:cNvPr id="6" name="Picture 5" descr="stat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0292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57200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Key Age Group: The 25-40 cohort represents over 60% of all transaction volumes, driven by digital payment modes.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Geographic Concentration: Maharashtra, Karnataka, and Delhi contribute the highest investment volumes, highlighting urban concentration.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Analytics &amp;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Ratios Calculation: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Sharpe Ratio: Excess return relative to risk-free rate ($R_f=6.5\%$) per unit of volatility.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Sortino Ratio: Penalizes only downside deviation.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Alpha &amp; Beta: Run OLS regressions against Nifty 100 benchmark index.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0-100 Scorecard Ranking Formula: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- 3Yr Returns (30%) + Sharpe (25%) + Alpha (20%) + Expense (15% inverse) + Max Drawdown (10% inverse).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Nippon Large Cap &amp; SBI Bluechip lead scorecard ranks.</a:t>
            </a:r>
          </a:p>
        </p:txBody>
      </p:sp>
      <p:pic>
        <p:nvPicPr>
          <p:cNvPr id="6" name="Picture 5" descr="fund_scorecar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Advanced Risk &amp; Sector Concentration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Tail Risk: Value at Risk (95% VaR) and CVaR measures single-day loss expectations, showing Mid-Cap funds carry double the tail-risk of Bluechip funds.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Rolling Sharpe Ratios: Shows dynamic changes in risk-adjusted performance over 90-day rolling windows.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Sector HHI Concentration: Sum of squared sector weights. Axis Bluechip has low HHI (~1,500), showing high diversification.</a:t>
            </a:r>
          </a:p>
        </p:txBody>
      </p:sp>
      <p:pic>
        <p:nvPicPr>
          <p:cNvPr id="6" name="Picture 5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Dashboard: Market &amp; Performance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029200" cy="2926080"/>
          </a:xfrm>
          <a:prstGeom prst="rect">
            <a:avLst/>
          </a:prstGeom>
        </p:spPr>
      </p:pic>
      <p:pic>
        <p:nvPicPr>
          <p:cNvPr id="6" name="Picture 5" descr="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0292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57200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Industry Overview Dashboard (Left): Treemaps of AMC market share, category inflows, and total AUM metrics.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Fund Performance Dashboard (Right): Scorecard matrix, 3y return vs Sharpe scatter plot, and expense toggles.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Dashboard: Investor &amp; SIP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029200" cy="2926080"/>
          </a:xfrm>
          <a:prstGeom prst="rect">
            <a:avLst/>
          </a:prstGeom>
        </p:spPr>
      </p:pic>
      <p:pic>
        <p:nvPicPr>
          <p:cNvPr id="6" name="Picture 5" descr="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0292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57200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Investor Analytics Dashboard (Left): Age demographics, income distributions, and geographical state heatmaps.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SIP &amp; Market Trends Dashboard (Right): Monthly inflows, SIP continuity indexes, and correlation with NAV fluctuations.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 &amp; Contact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Key Performance Findings: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Top Sharpe: SBI Bluechip Fund (Sharpe Ratio = 1.76)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Top CAGR: Nippon India Large Cap (3Yr CAGR = 22.45%)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Top Alpha: ICICI Prudential Bluechip (Alpha = 3.12%)</a:t>
            </a:r>
          </a:p>
          <a:p>
            <a:pPr lvl="1"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- Top AUM: SBI Mutual Fund (&gt; 48,000 Crores)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Valuable Cohort: Q1 2025 vintage shows 82%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1E3A8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00"/>
              </a:spcAft>
              <a:defRPr sz="3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1F5F9"/>
                </a:solidFill>
              </a:defRPr>
            </a:pPr>
            <a:r>
              <a:t>Mutual Fund Analytics Capstone Project</a:t>
            </a:r>
          </a:p>
          <a:p>
            <a:pPr algn="ctr">
              <a:defRPr sz="1600">
                <a:solidFill>
                  <a:srgbClr val="E2E8F0"/>
                </a:solidFill>
              </a:defRPr>
            </a:pPr>
            <a:r>
              <a:t>Presenter: Vikas Prajapat</a:t>
            </a:r>
            <a:br/>
            <a:r>
              <a:t>Contact: vikas.prajapat@example.com</a:t>
            </a:r>
            <a:br/>
            <a:r>
              <a:t>Organization: Bluestock FinTech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